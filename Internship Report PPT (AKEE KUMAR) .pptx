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9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8" indent="-320038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4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5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8" y="1435100"/>
            <a:ext cx="3008317" cy="469106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2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2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2" cy="804864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8" y="6414761"/>
            <a:ext cx="258623" cy="248303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0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237027" y="-622193"/>
            <a:ext cx="12192002" cy="6858002"/>
          </a:xfrm>
          <a:prstGeom prst="rect">
            <a:avLst/>
          </a:prstGeom>
          <a:ln w="12700">
            <a:miter lim="400000"/>
          </a:ln>
        </p:spPr>
      </p:pic>
      <p:sp>
        <p:nvSpPr>
          <p:cNvPr id="95" name="TextBox 2"/>
          <p:cNvSpPr txBox="1"/>
          <p:nvPr/>
        </p:nvSpPr>
        <p:spPr>
          <a:xfrm>
            <a:off x="4910137" y="1055225"/>
            <a:ext cx="2371727" cy="692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800"/>
              </a:lnSpc>
              <a:defRPr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INTERNSHIP REPORT</a:t>
            </a:r>
          </a:p>
        </p:txBody>
      </p:sp>
      <p:sp>
        <p:nvSpPr>
          <p:cNvPr id="96" name="TextBox 3"/>
          <p:cNvSpPr txBox="1"/>
          <p:nvPr/>
        </p:nvSpPr>
        <p:spPr>
          <a:xfrm>
            <a:off x="2275521" y="1803937"/>
            <a:ext cx="7640958" cy="77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51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Gen AI Virtual Internship</a:t>
            </a:r>
          </a:p>
        </p:txBody>
      </p:sp>
      <p:sp>
        <p:nvSpPr>
          <p:cNvPr id="97" name="TextBox 4"/>
          <p:cNvSpPr txBox="1"/>
          <p:nvPr/>
        </p:nvSpPr>
        <p:spPr>
          <a:xfrm>
            <a:off x="4729162" y="2727366"/>
            <a:ext cx="2733677" cy="692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2800"/>
              </a:lnSpc>
              <a:defRPr>
                <a:solidFill>
                  <a:srgbClr val="E2E8F0"/>
                </a:solidFill>
                <a:latin typeface="Outfit"/>
                <a:ea typeface="Outfit"/>
                <a:cs typeface="Outfit"/>
                <a:sym typeface="Outfit"/>
              </a:defRPr>
            </a:pPr>
            <a:r>
              <a:t>Submitted by: </a:t>
            </a:r>
            <a:r>
              <a:rPr b="1"/>
              <a:t>Akee Kumar</a:t>
            </a:r>
          </a:p>
        </p:txBody>
      </p:sp>
      <p:sp>
        <p:nvSpPr>
          <p:cNvPr id="98" name="TextBox 5"/>
          <p:cNvSpPr txBox="1"/>
          <p:nvPr/>
        </p:nvSpPr>
        <p:spPr>
          <a:xfrm>
            <a:off x="4538662" y="3613537"/>
            <a:ext cx="3114677" cy="5924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2400"/>
              </a:lnSpc>
              <a:defRPr sz="150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defRPr>
            </a:pPr>
            <a:r>
              <a:t>Roll No: 2410030917 </a:t>
            </a:r>
          </a:p>
          <a:p>
            <a:pPr algn="ctr">
              <a:lnSpc>
                <a:spcPts val="2400"/>
              </a:lnSpc>
              <a:defRPr sz="150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defRPr>
            </a:pPr>
            <a:r>
              <a:t>Batch: 2026-27</a:t>
            </a:r>
          </a:p>
        </p:txBody>
      </p:sp>
      <p:sp>
        <p:nvSpPr>
          <p:cNvPr id="99" name="TextBox 6"/>
          <p:cNvSpPr txBox="1"/>
          <p:nvPr/>
        </p:nvSpPr>
        <p:spPr>
          <a:xfrm>
            <a:off x="5548312" y="4307063"/>
            <a:ext cx="1095377" cy="5924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400"/>
              </a:lnSpc>
              <a:defRPr sz="150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B-Tech (CSE)</a:t>
            </a:r>
          </a:p>
        </p:txBody>
      </p:sp>
      <p:sp>
        <p:nvSpPr>
          <p:cNvPr id="100" name="TextBox 7"/>
          <p:cNvSpPr txBox="1"/>
          <p:nvPr/>
        </p:nvSpPr>
        <p:spPr>
          <a:xfrm>
            <a:off x="4314825" y="4927060"/>
            <a:ext cx="3562350" cy="5924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400"/>
              </a:lnSpc>
              <a:defRPr sz="1500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School of Computer Science &amp; Engineering</a:t>
            </a:r>
          </a:p>
        </p:txBody>
      </p:sp>
      <p:sp>
        <p:nvSpPr>
          <p:cNvPr id="101" name="TextBox 8"/>
          <p:cNvSpPr txBox="1"/>
          <p:nvPr/>
        </p:nvSpPr>
        <p:spPr>
          <a:xfrm>
            <a:off x="4829175" y="5547057"/>
            <a:ext cx="2533650" cy="5924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400"/>
              </a:lnSpc>
              <a:defRPr sz="1500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IILM University, Greater Noida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4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381750" y="3192363"/>
            <a:ext cx="5038725" cy="158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05" name="TextBox 3"/>
          <p:cNvSpPr txBox="1"/>
          <p:nvPr/>
        </p:nvSpPr>
        <p:spPr>
          <a:xfrm>
            <a:off x="771525" y="2370980"/>
            <a:ext cx="5038725" cy="9328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500"/>
              </a:lnSpc>
              <a:defRPr sz="150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This report details the 8-week AICTE–EduSkills Virtual Internship Program focused on AWS Gen AI, completed from April to June 2026.</a:t>
            </a:r>
          </a:p>
        </p:txBody>
      </p:sp>
      <p:sp>
        <p:nvSpPr>
          <p:cNvPr id="106" name="TextBox 4"/>
          <p:cNvSpPr txBox="1"/>
          <p:nvPr/>
        </p:nvSpPr>
        <p:spPr>
          <a:xfrm>
            <a:off x="771525" y="3569046"/>
            <a:ext cx="5038725" cy="9328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500"/>
              </a:lnSpc>
              <a:defRPr sz="150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Designed by AWS Academy, the curriculum bridges the gap between theoretical knowledge and practical exposure to industry-relevant artificial intelligence technologies.</a:t>
            </a:r>
          </a:p>
        </p:txBody>
      </p:sp>
      <p:pic>
        <p:nvPicPr>
          <p:cNvPr id="107" name="Picture 5" descr="Picture 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391275" y="3201888"/>
            <a:ext cx="5019675" cy="156865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8" name="Picture 6" descr="Picture 6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771525" y="5229969"/>
            <a:ext cx="1409700" cy="37147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9" name="Picture 7" descr="Picture 7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2295525" y="5229969"/>
            <a:ext cx="1666875" cy="371477"/>
          </a:xfrm>
          <a:prstGeom prst="rect">
            <a:avLst/>
          </a:prstGeom>
          <a:ln w="12700">
            <a:miter lim="400000"/>
          </a:ln>
        </p:spPr>
      </p:pic>
      <p:pic>
        <p:nvPicPr>
          <p:cNvPr id="110" name="Picture 8" descr="Picture 8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4076700" y="5229969"/>
            <a:ext cx="1314450" cy="371477"/>
          </a:xfrm>
          <a:prstGeom prst="rect">
            <a:avLst/>
          </a:prstGeom>
          <a:ln w="12700">
            <a:miter lim="400000"/>
          </a:ln>
        </p:spPr>
      </p:pic>
      <p:sp>
        <p:nvSpPr>
          <p:cNvPr id="111" name="TextBox 9"/>
          <p:cNvSpPr txBox="1"/>
          <p:nvPr/>
        </p:nvSpPr>
        <p:spPr>
          <a:xfrm>
            <a:off x="771524" y="581025"/>
            <a:ext cx="11181399" cy="520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4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Program Introduction</a:t>
            </a:r>
          </a:p>
        </p:txBody>
      </p:sp>
      <p:sp>
        <p:nvSpPr>
          <p:cNvPr id="112" name="Rectangle 10"/>
          <p:cNvSpPr/>
          <p:nvPr/>
        </p:nvSpPr>
        <p:spPr>
          <a:xfrm>
            <a:off x="771525" y="1247775"/>
            <a:ext cx="10648950" cy="19050"/>
          </a:xfrm>
          <a:prstGeom prst="rect">
            <a:avLst/>
          </a:prstGeom>
          <a:solidFill>
            <a:srgbClr val="38BDF8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5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71525" y="2552848"/>
            <a:ext cx="5038725" cy="2866728"/>
          </a:xfrm>
          <a:prstGeom prst="rect">
            <a:avLst/>
          </a:prstGeom>
          <a:ln w="12700">
            <a:miter lim="400000"/>
          </a:ln>
        </p:spPr>
      </p:pic>
      <p:pic>
        <p:nvPicPr>
          <p:cNvPr id="116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381750" y="2552848"/>
            <a:ext cx="5038725" cy="2866728"/>
          </a:xfrm>
          <a:prstGeom prst="rect">
            <a:avLst/>
          </a:prstGeom>
          <a:ln w="12700">
            <a:miter lim="400000"/>
          </a:ln>
        </p:spPr>
      </p:pic>
      <p:sp>
        <p:nvSpPr>
          <p:cNvPr id="117" name="TextBox 4"/>
          <p:cNvSpPr txBox="1"/>
          <p:nvPr/>
        </p:nvSpPr>
        <p:spPr>
          <a:xfrm>
            <a:off x="1162049" y="2943373"/>
            <a:ext cx="4470561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100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Theoretical vs. Practical</a:t>
            </a:r>
          </a:p>
        </p:txBody>
      </p:sp>
      <p:sp>
        <p:nvSpPr>
          <p:cNvPr id="118" name="TextBox 5"/>
          <p:cNvSpPr txBox="1"/>
          <p:nvPr/>
        </p:nvSpPr>
        <p:spPr>
          <a:xfrm>
            <a:off x="1162050" y="3429148"/>
            <a:ext cx="4257675" cy="12503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500"/>
              </a:lnSpc>
              <a:defRPr sz="150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While students often learn the theoretical foundations of AI and Machine Learning, they frequently lack hands-on, structured exposure to deploying these systems in real-world scenarios.</a:t>
            </a:r>
          </a:p>
        </p:txBody>
      </p:sp>
      <p:sp>
        <p:nvSpPr>
          <p:cNvPr id="119" name="TextBox 6"/>
          <p:cNvSpPr txBox="1"/>
          <p:nvPr/>
        </p:nvSpPr>
        <p:spPr>
          <a:xfrm>
            <a:off x="6772275" y="2943373"/>
            <a:ext cx="4470559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100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The Application Gap</a:t>
            </a:r>
          </a:p>
        </p:txBody>
      </p:sp>
      <p:sp>
        <p:nvSpPr>
          <p:cNvPr id="120" name="TextBox 7"/>
          <p:cNvSpPr txBox="1"/>
          <p:nvPr/>
        </p:nvSpPr>
        <p:spPr>
          <a:xfrm>
            <a:off x="6772275" y="3429148"/>
            <a:ext cx="4257675" cy="15678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500"/>
              </a:lnSpc>
              <a:defRPr sz="150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Without practical experience, it is difficult to grasp how foundation models, prompt engineering, and Natural Language Processing are securely and responsibly applied to solve modern business problems.</a:t>
            </a:r>
          </a:p>
        </p:txBody>
      </p:sp>
      <p:sp>
        <p:nvSpPr>
          <p:cNvPr id="121" name="TextBox 8"/>
          <p:cNvSpPr txBox="1"/>
          <p:nvPr/>
        </p:nvSpPr>
        <p:spPr>
          <a:xfrm>
            <a:off x="771524" y="581025"/>
            <a:ext cx="11181399" cy="520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4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The Industry Challenge</a:t>
            </a:r>
          </a:p>
        </p:txBody>
      </p:sp>
      <p:sp>
        <p:nvSpPr>
          <p:cNvPr id="122" name="Rectangle 9"/>
          <p:cNvSpPr/>
          <p:nvPr/>
        </p:nvSpPr>
        <p:spPr>
          <a:xfrm>
            <a:off x="771525" y="1247775"/>
            <a:ext cx="10648950" cy="19050"/>
          </a:xfrm>
          <a:prstGeom prst="rect">
            <a:avLst/>
          </a:prstGeom>
          <a:solidFill>
            <a:srgbClr val="38BDF8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25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71525" y="2005159"/>
            <a:ext cx="3327352" cy="3962105"/>
          </a:xfrm>
          <a:prstGeom prst="rect">
            <a:avLst/>
          </a:prstGeom>
          <a:ln w="12700">
            <a:miter lim="400000"/>
          </a:ln>
        </p:spPr>
      </p:pic>
      <p:pic>
        <p:nvPicPr>
          <p:cNvPr id="126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432250" y="2005159"/>
            <a:ext cx="3327352" cy="3962105"/>
          </a:xfrm>
          <a:prstGeom prst="rect">
            <a:avLst/>
          </a:prstGeom>
          <a:ln w="12700">
            <a:miter lim="400000"/>
          </a:ln>
        </p:spPr>
      </p:pic>
      <p:pic>
        <p:nvPicPr>
          <p:cNvPr id="127" name="Picture 4" descr="Picture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092975" y="2005159"/>
            <a:ext cx="3327352" cy="3962105"/>
          </a:xfrm>
          <a:prstGeom prst="rect">
            <a:avLst/>
          </a:prstGeom>
          <a:ln w="12700">
            <a:miter lim="400000"/>
          </a:ln>
        </p:spPr>
      </p:pic>
      <p:pic>
        <p:nvPicPr>
          <p:cNvPr id="128" name="Picture 5" descr="Picture 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006500" y="2395684"/>
            <a:ext cx="857251" cy="857252"/>
          </a:xfrm>
          <a:prstGeom prst="rect">
            <a:avLst/>
          </a:prstGeom>
          <a:ln w="12700">
            <a:miter lim="400000"/>
          </a:ln>
        </p:spPr>
      </p:pic>
      <p:sp>
        <p:nvSpPr>
          <p:cNvPr id="129" name="TextBox 6"/>
          <p:cNvSpPr txBox="1"/>
          <p:nvPr/>
        </p:nvSpPr>
        <p:spPr>
          <a:xfrm>
            <a:off x="1244977" y="3491060"/>
            <a:ext cx="2380297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Machine Learning</a:t>
            </a:r>
          </a:p>
        </p:txBody>
      </p:sp>
      <p:sp>
        <p:nvSpPr>
          <p:cNvPr id="130" name="TextBox 7"/>
          <p:cNvSpPr txBox="1"/>
          <p:nvPr/>
        </p:nvSpPr>
        <p:spPr>
          <a:xfrm>
            <a:off x="1066800" y="3976835"/>
            <a:ext cx="2736801" cy="15678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500"/>
              </a:lnSpc>
              <a:defRPr sz="150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Master problem-solving using Amazon SageMaker, covering data splitting and model training workflows using the XGBoost algorithm.</a:t>
            </a:r>
          </a:p>
        </p:txBody>
      </p:sp>
      <p:pic>
        <p:nvPicPr>
          <p:cNvPr id="131" name="Picture 8" descr="Picture 8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667226" y="2395684"/>
            <a:ext cx="857252" cy="857252"/>
          </a:xfrm>
          <a:prstGeom prst="rect">
            <a:avLst/>
          </a:prstGeom>
          <a:ln w="12700">
            <a:miter lim="400000"/>
          </a:ln>
        </p:spPr>
      </p:pic>
      <p:sp>
        <p:nvSpPr>
          <p:cNvPr id="132" name="TextBox 9"/>
          <p:cNvSpPr txBox="1"/>
          <p:nvPr/>
        </p:nvSpPr>
        <p:spPr>
          <a:xfrm>
            <a:off x="4965708" y="3491060"/>
            <a:ext cx="2260284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NLP Applications</a:t>
            </a:r>
          </a:p>
        </p:txBody>
      </p:sp>
      <p:sp>
        <p:nvSpPr>
          <p:cNvPr id="133" name="TextBox 10"/>
          <p:cNvSpPr txBox="1"/>
          <p:nvPr/>
        </p:nvSpPr>
        <p:spPr>
          <a:xfrm>
            <a:off x="4727525" y="3976835"/>
            <a:ext cx="2736801" cy="12503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500"/>
              </a:lnSpc>
              <a:defRPr sz="150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Understand text processing, sentiment analysis, information extraction, and topic modeling for real-world NLP applications.</a:t>
            </a:r>
          </a:p>
        </p:txBody>
      </p:sp>
      <p:pic>
        <p:nvPicPr>
          <p:cNvPr id="134" name="Picture 11" descr="Picture 11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9327950" y="2395684"/>
            <a:ext cx="857251" cy="857252"/>
          </a:xfrm>
          <a:prstGeom prst="rect">
            <a:avLst/>
          </a:prstGeom>
          <a:ln w="12700">
            <a:miter lim="400000"/>
          </a:ln>
        </p:spPr>
      </p:pic>
      <p:sp>
        <p:nvSpPr>
          <p:cNvPr id="135" name="TextBox 12"/>
          <p:cNvSpPr txBox="1"/>
          <p:nvPr/>
        </p:nvSpPr>
        <p:spPr>
          <a:xfrm>
            <a:off x="8871463" y="3491060"/>
            <a:ext cx="1770223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Generative AI</a:t>
            </a:r>
          </a:p>
        </p:txBody>
      </p:sp>
      <p:sp>
        <p:nvSpPr>
          <p:cNvPr id="136" name="TextBox 13"/>
          <p:cNvSpPr txBox="1"/>
          <p:nvPr/>
        </p:nvSpPr>
        <p:spPr>
          <a:xfrm>
            <a:off x="8388250" y="3976835"/>
            <a:ext cx="2736801" cy="15678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500"/>
              </a:lnSpc>
              <a:defRPr sz="150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Develop a working knowledge of Foundation Models, advanced prompt engineering, and the ethical, responsible deployment of AI.</a:t>
            </a:r>
          </a:p>
        </p:txBody>
      </p:sp>
      <p:pic>
        <p:nvPicPr>
          <p:cNvPr id="137" name="Picture 14" descr="Picture 14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2220813" y="2609998"/>
            <a:ext cx="428627" cy="428627"/>
          </a:xfrm>
          <a:prstGeom prst="rect">
            <a:avLst/>
          </a:prstGeom>
          <a:ln w="12700">
            <a:miter lim="400000"/>
          </a:ln>
        </p:spPr>
      </p:pic>
      <p:pic>
        <p:nvPicPr>
          <p:cNvPr id="138" name="Picture 15" descr="Picture 15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5829151" y="2609998"/>
            <a:ext cx="533402" cy="428627"/>
          </a:xfrm>
          <a:prstGeom prst="rect">
            <a:avLst/>
          </a:prstGeom>
          <a:ln w="12700">
            <a:miter lim="400000"/>
          </a:ln>
        </p:spPr>
      </p:pic>
      <p:pic>
        <p:nvPicPr>
          <p:cNvPr id="139" name="Picture 16" descr="Picture 16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9489875" y="2609998"/>
            <a:ext cx="533402" cy="428627"/>
          </a:xfrm>
          <a:prstGeom prst="rect">
            <a:avLst/>
          </a:prstGeom>
          <a:ln w="12700">
            <a:miter lim="400000"/>
          </a:ln>
        </p:spPr>
      </p:pic>
      <p:sp>
        <p:nvSpPr>
          <p:cNvPr id="140" name="TextBox 17"/>
          <p:cNvSpPr txBox="1"/>
          <p:nvPr/>
        </p:nvSpPr>
        <p:spPr>
          <a:xfrm>
            <a:off x="771524" y="581025"/>
            <a:ext cx="11181399" cy="520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4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Core Learning Objectives</a:t>
            </a:r>
          </a:p>
        </p:txBody>
      </p:sp>
      <p:sp>
        <p:nvSpPr>
          <p:cNvPr id="141" name="Rectangle 18"/>
          <p:cNvSpPr/>
          <p:nvPr/>
        </p:nvSpPr>
        <p:spPr>
          <a:xfrm>
            <a:off x="771525" y="1247775"/>
            <a:ext cx="10648950" cy="19050"/>
          </a:xfrm>
          <a:prstGeom prst="rect">
            <a:avLst/>
          </a:prstGeom>
          <a:solidFill>
            <a:srgbClr val="38BDF8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44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381750" y="1843085"/>
            <a:ext cx="5038725" cy="4286253"/>
          </a:xfrm>
          <a:prstGeom prst="rect">
            <a:avLst/>
          </a:prstGeom>
          <a:ln w="12700">
            <a:miter lim="400000"/>
          </a:ln>
        </p:spPr>
      </p:pic>
      <p:pic>
        <p:nvPicPr>
          <p:cNvPr id="145" name="Picture 3" descr="Picture 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391275" y="1852610"/>
            <a:ext cx="5019675" cy="6513763"/>
          </a:xfrm>
          <a:prstGeom prst="rect">
            <a:avLst/>
          </a:prstGeom>
          <a:ln w="12700">
            <a:miter lim="400000"/>
          </a:ln>
        </p:spPr>
      </p:pic>
      <p:sp>
        <p:nvSpPr>
          <p:cNvPr id="146" name="TextBox 4"/>
          <p:cNvSpPr txBox="1"/>
          <p:nvPr/>
        </p:nvSpPr>
        <p:spPr>
          <a:xfrm>
            <a:off x="1200150" y="2349101"/>
            <a:ext cx="4610100" cy="93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500"/>
              </a:lnSpc>
              <a:defRPr b="1" sz="150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defRPr>
            </a:pPr>
            <a:r>
              <a:t>EduSkills Academy:</a:t>
            </a:r>
            <a:r>
              <a:rPr b="0"/>
              <a:t> Operating under "Nation Building Through Skills," providing industry-oriented learning opportunities.</a:t>
            </a:r>
          </a:p>
        </p:txBody>
      </p:sp>
      <p:sp>
        <p:nvSpPr>
          <p:cNvPr id="147" name="TextBox 5"/>
          <p:cNvSpPr txBox="1"/>
          <p:nvPr/>
        </p:nvSpPr>
        <p:spPr>
          <a:xfrm>
            <a:off x="1200150" y="3547169"/>
            <a:ext cx="4610100" cy="6153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500"/>
              </a:lnSpc>
              <a:defRPr b="1" sz="150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defRPr>
            </a:pPr>
            <a:r>
              <a:t>AICTE Portal:</a:t>
            </a:r>
            <a:r>
              <a:rPr b="0"/>
              <a:t> Conducted under the prestigious AICTE National Internship Portal framework.</a:t>
            </a:r>
          </a:p>
        </p:txBody>
      </p:sp>
      <p:sp>
        <p:nvSpPr>
          <p:cNvPr id="148" name="TextBox 6"/>
          <p:cNvSpPr txBox="1"/>
          <p:nvPr/>
        </p:nvSpPr>
        <p:spPr>
          <a:xfrm>
            <a:off x="1200150" y="4425255"/>
            <a:ext cx="4610100" cy="9328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500"/>
              </a:lnSpc>
              <a:defRPr b="1" sz="150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defRPr>
            </a:pPr>
            <a:r>
              <a:t>AWS Academy:</a:t>
            </a:r>
            <a:r>
              <a:rPr b="0"/>
              <a:t> Provided the official, comprehensive curriculum covering cloud-native Gen AI implementations.</a:t>
            </a:r>
          </a:p>
        </p:txBody>
      </p:sp>
      <p:pic>
        <p:nvPicPr>
          <p:cNvPr id="149" name="Picture 7" descr="Picture 7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771525" y="2387201"/>
            <a:ext cx="228600" cy="247652"/>
          </a:xfrm>
          <a:prstGeom prst="rect">
            <a:avLst/>
          </a:prstGeom>
          <a:ln w="12700">
            <a:miter lim="400000"/>
          </a:ln>
        </p:spPr>
      </p:pic>
      <p:pic>
        <p:nvPicPr>
          <p:cNvPr id="150" name="Picture 8" descr="Picture 8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771525" y="3585269"/>
            <a:ext cx="228600" cy="247652"/>
          </a:xfrm>
          <a:prstGeom prst="rect">
            <a:avLst/>
          </a:prstGeom>
          <a:ln w="12700">
            <a:miter lim="400000"/>
          </a:ln>
        </p:spPr>
      </p:pic>
      <p:pic>
        <p:nvPicPr>
          <p:cNvPr id="151" name="Picture 9" descr="Picture 9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771525" y="4468117"/>
            <a:ext cx="285750" cy="238127"/>
          </a:xfrm>
          <a:prstGeom prst="rect">
            <a:avLst/>
          </a:prstGeom>
          <a:ln w="12700">
            <a:miter lim="400000"/>
          </a:ln>
        </p:spPr>
      </p:pic>
      <p:sp>
        <p:nvSpPr>
          <p:cNvPr id="152" name="TextBox 10"/>
          <p:cNvSpPr txBox="1"/>
          <p:nvPr/>
        </p:nvSpPr>
        <p:spPr>
          <a:xfrm>
            <a:off x="771524" y="581025"/>
            <a:ext cx="11181399" cy="520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4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Ecosystem &amp; Platforms</a:t>
            </a:r>
          </a:p>
        </p:txBody>
      </p:sp>
      <p:sp>
        <p:nvSpPr>
          <p:cNvPr id="153" name="Rectangle 11"/>
          <p:cNvSpPr/>
          <p:nvPr/>
        </p:nvSpPr>
        <p:spPr>
          <a:xfrm>
            <a:off x="771525" y="1247775"/>
            <a:ext cx="10648950" cy="19050"/>
          </a:xfrm>
          <a:prstGeom prst="rect">
            <a:avLst/>
          </a:prstGeom>
          <a:solidFill>
            <a:srgbClr val="38BDF8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56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381750" y="2138360"/>
            <a:ext cx="5038725" cy="3695555"/>
          </a:xfrm>
          <a:prstGeom prst="rect">
            <a:avLst/>
          </a:prstGeom>
          <a:ln w="12700">
            <a:miter lim="400000"/>
          </a:ln>
        </p:spPr>
      </p:pic>
      <p:pic>
        <p:nvPicPr>
          <p:cNvPr id="157" name="Picture 3" descr="Picture 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391275" y="2147885"/>
            <a:ext cx="5019675" cy="3676505"/>
          </a:xfrm>
          <a:prstGeom prst="rect">
            <a:avLst/>
          </a:prstGeom>
          <a:ln w="12700">
            <a:miter lim="400000"/>
          </a:ln>
        </p:spPr>
      </p:pic>
      <p:sp>
        <p:nvSpPr>
          <p:cNvPr id="158" name="TextBox 4"/>
          <p:cNvSpPr txBox="1"/>
          <p:nvPr/>
        </p:nvSpPr>
        <p:spPr>
          <a:xfrm>
            <a:off x="1200150" y="2229891"/>
            <a:ext cx="4610100" cy="6153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500"/>
              </a:lnSpc>
              <a:defRPr b="1" sz="150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defRPr>
            </a:pPr>
            <a:r>
              <a:t>Cloud AI:</a:t>
            </a:r>
            <a:r>
              <a:rPr b="0"/>
              <a:t> Amazon SageMaker, XGBoost algorithm for model training.</a:t>
            </a:r>
          </a:p>
        </p:txBody>
      </p:sp>
      <p:sp>
        <p:nvSpPr>
          <p:cNvPr id="159" name="TextBox 5"/>
          <p:cNvSpPr txBox="1"/>
          <p:nvPr/>
        </p:nvSpPr>
        <p:spPr>
          <a:xfrm>
            <a:off x="1200150" y="3107975"/>
            <a:ext cx="4610100" cy="6153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500"/>
              </a:lnSpc>
              <a:defRPr b="1" sz="150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defRPr>
            </a:pPr>
            <a:r>
              <a:t>Computer Vision:</a:t>
            </a:r>
            <a:r>
              <a:rPr b="0"/>
              <a:t> AWS managed services for image and video analysis.</a:t>
            </a:r>
          </a:p>
        </p:txBody>
      </p:sp>
      <p:sp>
        <p:nvSpPr>
          <p:cNvPr id="160" name="TextBox 6"/>
          <p:cNvSpPr txBox="1"/>
          <p:nvPr/>
        </p:nvSpPr>
        <p:spPr>
          <a:xfrm>
            <a:off x="1200150" y="3986062"/>
            <a:ext cx="4610100" cy="2978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500"/>
              </a:lnSpc>
              <a:defRPr b="1" sz="150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defRPr>
            </a:pPr>
            <a:r>
              <a:t>Language:</a:t>
            </a:r>
            <a:r>
              <a:rPr b="0"/>
              <a:t> NLP, Sentiment Analysis, Topic Modeling.</a:t>
            </a:r>
          </a:p>
        </p:txBody>
      </p:sp>
      <p:sp>
        <p:nvSpPr>
          <p:cNvPr id="161" name="TextBox 7"/>
          <p:cNvSpPr txBox="1"/>
          <p:nvPr/>
        </p:nvSpPr>
        <p:spPr>
          <a:xfrm>
            <a:off x="1200150" y="4864148"/>
            <a:ext cx="4610100" cy="6153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500"/>
              </a:lnSpc>
              <a:defRPr b="1" sz="150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defRPr>
            </a:pPr>
            <a:r>
              <a:t>Development:</a:t>
            </a:r>
            <a:r>
              <a:rPr b="0"/>
              <a:t> Prompts, Prompt Engineering, Amazon CodeWhisperer.</a:t>
            </a:r>
          </a:p>
        </p:txBody>
      </p:sp>
      <p:pic>
        <p:nvPicPr>
          <p:cNvPr id="162" name="Picture 8" descr="Picture 8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771525" y="2267991"/>
            <a:ext cx="228600" cy="247652"/>
          </a:xfrm>
          <a:prstGeom prst="rect">
            <a:avLst/>
          </a:prstGeom>
          <a:ln w="12700">
            <a:miter lim="400000"/>
          </a:ln>
        </p:spPr>
      </p:pic>
      <p:pic>
        <p:nvPicPr>
          <p:cNvPr id="163" name="Picture 9" descr="Picture 9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771525" y="3146075"/>
            <a:ext cx="257175" cy="247652"/>
          </a:xfrm>
          <a:prstGeom prst="rect">
            <a:avLst/>
          </a:prstGeom>
          <a:ln w="12700">
            <a:miter lim="400000"/>
          </a:ln>
        </p:spPr>
      </p:pic>
      <p:pic>
        <p:nvPicPr>
          <p:cNvPr id="164" name="Picture 10" descr="Picture 10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771525" y="4024162"/>
            <a:ext cx="285750" cy="247652"/>
          </a:xfrm>
          <a:prstGeom prst="rect">
            <a:avLst/>
          </a:prstGeom>
          <a:ln w="12700">
            <a:miter lim="400000"/>
          </a:ln>
        </p:spPr>
      </p:pic>
      <p:pic>
        <p:nvPicPr>
          <p:cNvPr id="165" name="Picture 11" descr="Picture 11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771525" y="4902248"/>
            <a:ext cx="285750" cy="247652"/>
          </a:xfrm>
          <a:prstGeom prst="rect">
            <a:avLst/>
          </a:prstGeom>
          <a:ln w="12700">
            <a:miter lim="400000"/>
          </a:ln>
        </p:spPr>
      </p:pic>
      <p:sp>
        <p:nvSpPr>
          <p:cNvPr id="166" name="TextBox 12"/>
          <p:cNvSpPr txBox="1"/>
          <p:nvPr/>
        </p:nvSpPr>
        <p:spPr>
          <a:xfrm>
            <a:off x="771524" y="581025"/>
            <a:ext cx="11181399" cy="520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4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Technologies &amp; Tools Deployed</a:t>
            </a:r>
          </a:p>
        </p:txBody>
      </p:sp>
      <p:sp>
        <p:nvSpPr>
          <p:cNvPr id="167" name="Rectangle 13"/>
          <p:cNvSpPr/>
          <p:nvPr/>
        </p:nvSpPr>
        <p:spPr>
          <a:xfrm>
            <a:off x="771525" y="1247775"/>
            <a:ext cx="10648950" cy="19050"/>
          </a:xfrm>
          <a:prstGeom prst="rect">
            <a:avLst/>
          </a:prstGeom>
          <a:solidFill>
            <a:srgbClr val="38BDF8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70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71525" y="2564901"/>
            <a:ext cx="5038725" cy="2842619"/>
          </a:xfrm>
          <a:prstGeom prst="rect">
            <a:avLst/>
          </a:prstGeom>
          <a:ln w="12700">
            <a:miter lim="400000"/>
          </a:ln>
        </p:spPr>
      </p:pic>
      <p:pic>
        <p:nvPicPr>
          <p:cNvPr id="171" name="Picture 3" descr="Picture 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81050" y="2574426"/>
            <a:ext cx="5019675" cy="2823569"/>
          </a:xfrm>
          <a:prstGeom prst="rect">
            <a:avLst/>
          </a:prstGeom>
          <a:ln w="12700">
            <a:miter lim="400000"/>
          </a:ln>
        </p:spPr>
      </p:pic>
      <p:sp>
        <p:nvSpPr>
          <p:cNvPr id="172" name="TextBox 4"/>
          <p:cNvSpPr txBox="1"/>
          <p:nvPr/>
        </p:nvSpPr>
        <p:spPr>
          <a:xfrm>
            <a:off x="6810375" y="2230040"/>
            <a:ext cx="4610100" cy="6153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500"/>
              </a:lnSpc>
              <a:defRPr b="1" sz="150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defRPr>
            </a:pPr>
            <a:r>
              <a:t>Machine Learning Layer:</a:t>
            </a:r>
            <a:r>
              <a:rPr b="0"/>
              <a:t> SageMaker and XGBoost for core intelligence and forecasting.</a:t>
            </a:r>
          </a:p>
        </p:txBody>
      </p:sp>
      <p:sp>
        <p:nvSpPr>
          <p:cNvPr id="173" name="TextBox 5"/>
          <p:cNvSpPr txBox="1"/>
          <p:nvPr/>
        </p:nvSpPr>
        <p:spPr>
          <a:xfrm>
            <a:off x="6810375" y="3108125"/>
            <a:ext cx="4610100" cy="6153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500"/>
              </a:lnSpc>
              <a:defRPr b="1" sz="150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defRPr>
            </a:pPr>
            <a:r>
              <a:t>NLP Layer:</a:t>
            </a:r>
            <a:r>
              <a:rPr b="0"/>
              <a:t> Text processing and sentiment extraction engines.</a:t>
            </a:r>
          </a:p>
        </p:txBody>
      </p:sp>
      <p:sp>
        <p:nvSpPr>
          <p:cNvPr id="174" name="TextBox 6"/>
          <p:cNvSpPr txBox="1"/>
          <p:nvPr/>
        </p:nvSpPr>
        <p:spPr>
          <a:xfrm>
            <a:off x="6810375" y="3986212"/>
            <a:ext cx="4610100" cy="6153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500"/>
              </a:lnSpc>
              <a:defRPr b="1" sz="150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defRPr>
            </a:pPr>
            <a:r>
              <a:t>Prompt Engineering:</a:t>
            </a:r>
            <a:r>
              <a:rPr b="0"/>
              <a:t> Directing and refining interactions with Generative systems.</a:t>
            </a:r>
          </a:p>
        </p:txBody>
      </p:sp>
      <p:sp>
        <p:nvSpPr>
          <p:cNvPr id="175" name="TextBox 7"/>
          <p:cNvSpPr txBox="1"/>
          <p:nvPr/>
        </p:nvSpPr>
        <p:spPr>
          <a:xfrm>
            <a:off x="6810375" y="4864298"/>
            <a:ext cx="4610100" cy="6153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500"/>
              </a:lnSpc>
              <a:defRPr b="1" sz="150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defRPr>
            </a:pPr>
            <a:r>
              <a:t>Responsible AI Layer:</a:t>
            </a:r>
            <a:r>
              <a:rPr b="0"/>
              <a:t> Ensuring security, governance, and compliance bounds.</a:t>
            </a:r>
          </a:p>
        </p:txBody>
      </p:sp>
      <p:pic>
        <p:nvPicPr>
          <p:cNvPr id="176" name="Picture 8" descr="Picture 8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381750" y="2268140"/>
            <a:ext cx="257175" cy="247652"/>
          </a:xfrm>
          <a:prstGeom prst="rect">
            <a:avLst/>
          </a:prstGeom>
          <a:ln w="12700">
            <a:miter lim="400000"/>
          </a:ln>
        </p:spPr>
      </p:pic>
      <p:pic>
        <p:nvPicPr>
          <p:cNvPr id="177" name="Picture 9" descr="Picture 9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6381750" y="3146225"/>
            <a:ext cx="228600" cy="247652"/>
          </a:xfrm>
          <a:prstGeom prst="rect">
            <a:avLst/>
          </a:prstGeom>
          <a:ln w="12700">
            <a:miter lim="400000"/>
          </a:ln>
        </p:spPr>
      </p:pic>
      <p:pic>
        <p:nvPicPr>
          <p:cNvPr id="178" name="Picture 10" descr="Picture 10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6381750" y="4024312"/>
            <a:ext cx="257175" cy="247652"/>
          </a:xfrm>
          <a:prstGeom prst="rect">
            <a:avLst/>
          </a:prstGeom>
          <a:ln w="12700">
            <a:miter lim="400000"/>
          </a:ln>
        </p:spPr>
      </p:pic>
      <p:pic>
        <p:nvPicPr>
          <p:cNvPr id="179" name="Picture 11" descr="Picture 11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6381750" y="4902398"/>
            <a:ext cx="228600" cy="247652"/>
          </a:xfrm>
          <a:prstGeom prst="rect">
            <a:avLst/>
          </a:prstGeom>
          <a:ln w="12700">
            <a:miter lim="400000"/>
          </a:ln>
        </p:spPr>
      </p:pic>
      <p:sp>
        <p:nvSpPr>
          <p:cNvPr id="180" name="TextBox 12"/>
          <p:cNvSpPr txBox="1"/>
          <p:nvPr/>
        </p:nvSpPr>
        <p:spPr>
          <a:xfrm>
            <a:off x="771524" y="581025"/>
            <a:ext cx="11181399" cy="520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4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System Architecture Layers</a:t>
            </a:r>
          </a:p>
        </p:txBody>
      </p:sp>
      <p:sp>
        <p:nvSpPr>
          <p:cNvPr id="181" name="Rectangle 13"/>
          <p:cNvSpPr/>
          <p:nvPr/>
        </p:nvSpPr>
        <p:spPr>
          <a:xfrm>
            <a:off x="771525" y="1247775"/>
            <a:ext cx="10648950" cy="19050"/>
          </a:xfrm>
          <a:prstGeom prst="rect">
            <a:avLst/>
          </a:prstGeom>
          <a:solidFill>
            <a:srgbClr val="38BDF8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84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71525" y="3986212"/>
            <a:ext cx="10648950" cy="28577"/>
          </a:xfrm>
          <a:prstGeom prst="rect">
            <a:avLst/>
          </a:prstGeom>
          <a:ln w="12700">
            <a:miter lim="400000"/>
          </a:ln>
        </p:spPr>
      </p:pic>
      <p:pic>
        <p:nvPicPr>
          <p:cNvPr id="185" name="Picture 3" descr="Picture 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71525" y="4414837"/>
            <a:ext cx="2449117" cy="2276328"/>
          </a:xfrm>
          <a:prstGeom prst="rect">
            <a:avLst/>
          </a:prstGeom>
          <a:ln w="12700">
            <a:miter lim="400000"/>
          </a:ln>
        </p:spPr>
      </p:pic>
      <p:pic>
        <p:nvPicPr>
          <p:cNvPr id="186" name="Picture 4" descr="Picture 4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3504753" y="1197470"/>
            <a:ext cx="2449117" cy="2550618"/>
          </a:xfrm>
          <a:prstGeom prst="rect">
            <a:avLst/>
          </a:prstGeom>
          <a:ln w="12700">
            <a:miter lim="400000"/>
          </a:ln>
        </p:spPr>
      </p:pic>
      <p:pic>
        <p:nvPicPr>
          <p:cNvPr id="187" name="Picture 5" descr="Picture 5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6237982" y="4414837"/>
            <a:ext cx="2449117" cy="2276328"/>
          </a:xfrm>
          <a:prstGeom prst="rect">
            <a:avLst/>
          </a:prstGeom>
          <a:ln w="12700">
            <a:miter lim="400000"/>
          </a:ln>
        </p:spPr>
      </p:pic>
      <p:pic>
        <p:nvPicPr>
          <p:cNvPr id="188" name="Picture 6" descr="Picture 6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8971208" y="1197470"/>
            <a:ext cx="2449118" cy="2550618"/>
          </a:xfrm>
          <a:prstGeom prst="rect">
            <a:avLst/>
          </a:prstGeom>
          <a:ln w="12700">
            <a:miter lim="400000"/>
          </a:ln>
        </p:spPr>
      </p:pic>
      <p:sp>
        <p:nvSpPr>
          <p:cNvPr id="189" name="Rounded Rectangle 7"/>
          <p:cNvSpPr/>
          <p:nvPr/>
        </p:nvSpPr>
        <p:spPr>
          <a:xfrm>
            <a:off x="1900832" y="3986212"/>
            <a:ext cx="190502" cy="190502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38100">
            <a:solidFill>
              <a:srgbClr val="38BDF8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90" name="Rounded Rectangle 8"/>
          <p:cNvSpPr/>
          <p:nvPr/>
        </p:nvSpPr>
        <p:spPr>
          <a:xfrm>
            <a:off x="4634060" y="3986212"/>
            <a:ext cx="190502" cy="190502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38100">
            <a:solidFill>
              <a:srgbClr val="38BDF8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91" name="Rounded Rectangle 9"/>
          <p:cNvSpPr/>
          <p:nvPr/>
        </p:nvSpPr>
        <p:spPr>
          <a:xfrm>
            <a:off x="7367289" y="3986212"/>
            <a:ext cx="190502" cy="190502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38100">
            <a:solidFill>
              <a:srgbClr val="38BDF8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92" name="Rounded Rectangle 10"/>
          <p:cNvSpPr/>
          <p:nvPr/>
        </p:nvSpPr>
        <p:spPr>
          <a:xfrm>
            <a:off x="10100518" y="3986212"/>
            <a:ext cx="190502" cy="190502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38100">
            <a:solidFill>
              <a:srgbClr val="38BDF8"/>
            </a:solidFill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93" name="TextBox 11"/>
          <p:cNvSpPr txBox="1"/>
          <p:nvPr/>
        </p:nvSpPr>
        <p:spPr>
          <a:xfrm>
            <a:off x="970329" y="4662487"/>
            <a:ext cx="205150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Weeks 1 &amp; 2</a:t>
            </a:r>
          </a:p>
        </p:txBody>
      </p:sp>
      <p:sp>
        <p:nvSpPr>
          <p:cNvPr id="194" name="TextBox 12"/>
          <p:cNvSpPr txBox="1"/>
          <p:nvPr/>
        </p:nvSpPr>
        <p:spPr>
          <a:xfrm>
            <a:off x="1019175" y="5072062"/>
            <a:ext cx="1953817" cy="13181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2100"/>
              </a:lnSpc>
              <a:defRPr b="1" sz="130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defRPr>
            </a:pPr>
            <a:r>
              <a:t>ML Foundations:</a:t>
            </a:r>
            <a:r>
              <a:rPr b="0"/>
              <a:t> SageMaker problem-solving, data splitting, XGBoost models, and forecasting.</a:t>
            </a:r>
          </a:p>
        </p:txBody>
      </p:sp>
      <p:sp>
        <p:nvSpPr>
          <p:cNvPr id="195" name="TextBox 13"/>
          <p:cNvSpPr txBox="1"/>
          <p:nvPr/>
        </p:nvSpPr>
        <p:spPr>
          <a:xfrm>
            <a:off x="3703558" y="1445120"/>
            <a:ext cx="205150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Weeks 3 &amp; 4</a:t>
            </a:r>
          </a:p>
        </p:txBody>
      </p:sp>
      <p:sp>
        <p:nvSpPr>
          <p:cNvPr id="196" name="TextBox 14"/>
          <p:cNvSpPr txBox="1"/>
          <p:nvPr/>
        </p:nvSpPr>
        <p:spPr>
          <a:xfrm>
            <a:off x="3752403" y="1854696"/>
            <a:ext cx="1953817" cy="13181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2100"/>
              </a:lnSpc>
              <a:defRPr b="1" sz="130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defRPr>
            </a:pPr>
            <a:r>
              <a:t>AWS &amp; NLP:</a:t>
            </a:r>
            <a:r>
              <a:rPr b="0"/>
              <a:t> Amazon CodeWhisperer introduction and core Natural Language Processing fundamentals.</a:t>
            </a:r>
          </a:p>
        </p:txBody>
      </p:sp>
      <p:sp>
        <p:nvSpPr>
          <p:cNvPr id="197" name="TextBox 15"/>
          <p:cNvSpPr txBox="1"/>
          <p:nvPr/>
        </p:nvSpPr>
        <p:spPr>
          <a:xfrm>
            <a:off x="6436786" y="4662487"/>
            <a:ext cx="2051508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Weeks 5 &amp; 6</a:t>
            </a:r>
          </a:p>
        </p:txBody>
      </p:sp>
      <p:sp>
        <p:nvSpPr>
          <p:cNvPr id="198" name="TextBox 16"/>
          <p:cNvSpPr txBox="1"/>
          <p:nvPr/>
        </p:nvSpPr>
        <p:spPr>
          <a:xfrm>
            <a:off x="6485632" y="5072062"/>
            <a:ext cx="1953817" cy="13181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2100"/>
              </a:lnSpc>
              <a:defRPr b="1" sz="130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defRPr>
            </a:pPr>
            <a:r>
              <a:t>Advanced NLP:</a:t>
            </a:r>
            <a:r>
              <a:rPr b="0"/>
              <a:t> Sentiment analysis, information extraction, topic modeling, and language processing.</a:t>
            </a:r>
          </a:p>
        </p:txBody>
      </p:sp>
      <p:sp>
        <p:nvSpPr>
          <p:cNvPr id="199" name="TextBox 17"/>
          <p:cNvSpPr txBox="1"/>
          <p:nvPr/>
        </p:nvSpPr>
        <p:spPr>
          <a:xfrm>
            <a:off x="9170013" y="1445120"/>
            <a:ext cx="2051508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Weeks 7 &amp; 8</a:t>
            </a:r>
          </a:p>
        </p:txBody>
      </p:sp>
      <p:sp>
        <p:nvSpPr>
          <p:cNvPr id="200" name="TextBox 18"/>
          <p:cNvSpPr txBox="1"/>
          <p:nvPr/>
        </p:nvSpPr>
        <p:spPr>
          <a:xfrm>
            <a:off x="9218858" y="1854696"/>
            <a:ext cx="1953818" cy="1584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2100"/>
              </a:lnSpc>
              <a:defRPr b="1" sz="130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defRPr>
            </a:pPr>
            <a:r>
              <a:t>Generative AI:</a:t>
            </a:r>
            <a:r>
              <a:rPr b="0"/>
              <a:t> Foundation Models, prompt engineering, Responsible AI (security &amp; governance), and Final Assessment.</a:t>
            </a:r>
          </a:p>
        </p:txBody>
      </p:sp>
      <p:sp>
        <p:nvSpPr>
          <p:cNvPr id="201" name="TextBox 19"/>
          <p:cNvSpPr txBox="1"/>
          <p:nvPr/>
        </p:nvSpPr>
        <p:spPr>
          <a:xfrm>
            <a:off x="771524" y="581025"/>
            <a:ext cx="11181399" cy="520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4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8-Week Program Methodology</a:t>
            </a:r>
          </a:p>
        </p:txBody>
      </p:sp>
      <p:sp>
        <p:nvSpPr>
          <p:cNvPr id="202" name="Rectangle 20"/>
          <p:cNvSpPr/>
          <p:nvPr/>
        </p:nvSpPr>
        <p:spPr>
          <a:xfrm>
            <a:off x="771525" y="1247775"/>
            <a:ext cx="10648950" cy="19050"/>
          </a:xfrm>
          <a:prstGeom prst="rect">
            <a:avLst/>
          </a:prstGeom>
          <a:solidFill>
            <a:srgbClr val="38BDF8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05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71525" y="3090860"/>
            <a:ext cx="4648200" cy="1333502"/>
          </a:xfrm>
          <a:prstGeom prst="rect">
            <a:avLst/>
          </a:prstGeom>
          <a:ln w="12700">
            <a:miter lim="400000"/>
          </a:ln>
        </p:spPr>
      </p:pic>
      <p:sp>
        <p:nvSpPr>
          <p:cNvPr id="206" name="TextBox 3"/>
          <p:cNvSpPr txBox="1"/>
          <p:nvPr/>
        </p:nvSpPr>
        <p:spPr>
          <a:xfrm>
            <a:off x="771525" y="4567237"/>
            <a:ext cx="4648200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900">
                <a:solidFill>
                  <a:srgbClr val="E2E8F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</a:lstStyle>
          <a:p>
            <a:pPr/>
            <a:r>
              <a:t>OUTSTANDING GRADE</a:t>
            </a:r>
          </a:p>
        </p:txBody>
      </p:sp>
      <p:sp>
        <p:nvSpPr>
          <p:cNvPr id="207" name="TextBox 4"/>
          <p:cNvSpPr txBox="1"/>
          <p:nvPr/>
        </p:nvSpPr>
        <p:spPr>
          <a:xfrm>
            <a:off x="6381750" y="2545258"/>
            <a:ext cx="5290662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100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Demonstrated Competency</a:t>
            </a:r>
          </a:p>
        </p:txBody>
      </p:sp>
      <p:sp>
        <p:nvSpPr>
          <p:cNvPr id="208" name="TextBox 5"/>
          <p:cNvSpPr txBox="1"/>
          <p:nvPr/>
        </p:nvSpPr>
        <p:spPr>
          <a:xfrm>
            <a:off x="6381750" y="3269157"/>
            <a:ext cx="5038725" cy="6153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500"/>
              </a:lnSpc>
              <a:defRPr sz="150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Successfully completed all weekly assessments, assignments, and project documentations.</a:t>
            </a:r>
          </a:p>
        </p:txBody>
      </p:sp>
      <p:sp>
        <p:nvSpPr>
          <p:cNvPr id="209" name="TextBox 6"/>
          <p:cNvSpPr txBox="1"/>
          <p:nvPr/>
        </p:nvSpPr>
        <p:spPr>
          <a:xfrm>
            <a:off x="6381750" y="4147244"/>
            <a:ext cx="5038725" cy="12503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500"/>
              </a:lnSpc>
              <a:defRPr sz="150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Achieved comprehensive, practical knowledge spanning from baseline Machine Learning (SageMaker) to complex Generative AI Foundation Models and ethical AI frameworks.</a:t>
            </a:r>
          </a:p>
        </p:txBody>
      </p:sp>
      <p:sp>
        <p:nvSpPr>
          <p:cNvPr id="210" name="TextBox 7"/>
          <p:cNvSpPr txBox="1"/>
          <p:nvPr/>
        </p:nvSpPr>
        <p:spPr>
          <a:xfrm>
            <a:off x="771524" y="581025"/>
            <a:ext cx="11181399" cy="520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4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Final Outcomes &amp; Achievements</a:t>
            </a:r>
          </a:p>
        </p:txBody>
      </p:sp>
      <p:sp>
        <p:nvSpPr>
          <p:cNvPr id="211" name="Rectangle 8"/>
          <p:cNvSpPr/>
          <p:nvPr/>
        </p:nvSpPr>
        <p:spPr>
          <a:xfrm>
            <a:off x="771525" y="1247775"/>
            <a:ext cx="10648950" cy="19050"/>
          </a:xfrm>
          <a:prstGeom prst="rect">
            <a:avLst/>
          </a:prstGeom>
          <a:solidFill>
            <a:srgbClr val="38BDF8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14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rcRect l="0" t="0" r="0" b="0"/>
          <a:stretch>
            <a:fillRect/>
          </a:stretch>
        </p:blipFill>
        <p:spPr>
          <a:xfrm>
            <a:off x="3573431" y="3455639"/>
            <a:ext cx="5045138" cy="2353416"/>
          </a:xfrm>
          <a:prstGeom prst="rect">
            <a:avLst/>
          </a:prstGeom>
          <a:ln w="12700">
            <a:miter lim="400000"/>
          </a:ln>
        </p:spPr>
      </p:pic>
      <p:sp>
        <p:nvSpPr>
          <p:cNvPr id="215" name="TextBox 3"/>
          <p:cNvSpPr txBox="1"/>
          <p:nvPr/>
        </p:nvSpPr>
        <p:spPr>
          <a:xfrm>
            <a:off x="505300" y="1451669"/>
            <a:ext cx="11181399" cy="825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54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Thank You!</a:t>
            </a:r>
          </a:p>
        </p:txBody>
      </p:sp>
      <p:sp>
        <p:nvSpPr>
          <p:cNvPr id="216" name="TextBox 5"/>
          <p:cNvSpPr txBox="1"/>
          <p:nvPr/>
        </p:nvSpPr>
        <p:spPr>
          <a:xfrm>
            <a:off x="4395787" y="3846164"/>
            <a:ext cx="3400427" cy="6410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600"/>
              </a:lnSpc>
              <a:defRPr b="1" sz="1600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Akee Kumar</a:t>
            </a:r>
          </a:p>
        </p:txBody>
      </p:sp>
      <p:sp>
        <p:nvSpPr>
          <p:cNvPr id="217" name="TextBox 6"/>
          <p:cNvSpPr txBox="1"/>
          <p:nvPr/>
        </p:nvSpPr>
        <p:spPr>
          <a:xfrm>
            <a:off x="4395787" y="4276576"/>
            <a:ext cx="3400427" cy="251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100"/>
              </a:lnSpc>
              <a:defRPr sz="1300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B-Tech (CSE) | IILM University</a:t>
            </a:r>
          </a:p>
        </p:txBody>
      </p:sp>
      <p:sp>
        <p:nvSpPr>
          <p:cNvPr id="218" name="TextBox 7"/>
          <p:cNvSpPr txBox="1"/>
          <p:nvPr/>
        </p:nvSpPr>
        <p:spPr>
          <a:xfrm>
            <a:off x="4395786" y="4764628"/>
            <a:ext cx="3400427" cy="251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100"/>
              </a:lnSpc>
              <a:defRPr sz="1300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AICTE – EduSkills Virtual Internship Program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21" name="Rectangle 5"/>
          <p:cNvSpPr/>
          <p:nvPr/>
        </p:nvSpPr>
        <p:spPr>
          <a:xfrm>
            <a:off x="771525" y="3195091"/>
            <a:ext cx="8277225" cy="12702"/>
          </a:xfrm>
          <a:prstGeom prst="rect">
            <a:avLst/>
          </a:prstGeom>
          <a:solidFill>
            <a:srgbClr val="757575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22" name="Rectangle 6"/>
          <p:cNvSpPr/>
          <p:nvPr/>
        </p:nvSpPr>
        <p:spPr>
          <a:xfrm>
            <a:off x="771525" y="3195091"/>
            <a:ext cx="8277225" cy="12702"/>
          </a:xfrm>
          <a:prstGeom prst="rect">
            <a:avLst/>
          </a:prstGeom>
          <a:solidFill>
            <a:srgbClr val="757575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23" name="Rectangle 7"/>
          <p:cNvSpPr/>
          <p:nvPr/>
        </p:nvSpPr>
        <p:spPr>
          <a:xfrm>
            <a:off x="771525" y="3979862"/>
            <a:ext cx="8277225" cy="12702"/>
          </a:xfrm>
          <a:prstGeom prst="rect">
            <a:avLst/>
          </a:prstGeom>
          <a:solidFill>
            <a:srgbClr val="757575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24" name="Rectangle 8"/>
          <p:cNvSpPr/>
          <p:nvPr/>
        </p:nvSpPr>
        <p:spPr>
          <a:xfrm>
            <a:off x="771525" y="3979862"/>
            <a:ext cx="8277225" cy="12702"/>
          </a:xfrm>
          <a:prstGeom prst="rect">
            <a:avLst/>
          </a:prstGeom>
          <a:solidFill>
            <a:srgbClr val="757575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25" name="Rectangle 9"/>
          <p:cNvSpPr/>
          <p:nvPr/>
        </p:nvSpPr>
        <p:spPr>
          <a:xfrm>
            <a:off x="771525" y="4764632"/>
            <a:ext cx="8277225" cy="12702"/>
          </a:xfrm>
          <a:prstGeom prst="rect">
            <a:avLst/>
          </a:prstGeom>
          <a:solidFill>
            <a:srgbClr val="757575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226" name="Rectangle 10"/>
          <p:cNvSpPr/>
          <p:nvPr/>
        </p:nvSpPr>
        <p:spPr>
          <a:xfrm>
            <a:off x="771525" y="4764632"/>
            <a:ext cx="8277225" cy="12702"/>
          </a:xfrm>
          <a:prstGeom prst="rect">
            <a:avLst/>
          </a:prstGeom>
          <a:solidFill>
            <a:srgbClr val="757575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pic>
        <p:nvPicPr>
          <p:cNvPr id="227" name="Picture 11" descr="Picture 1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71525" y="2570857"/>
            <a:ext cx="857250" cy="476252"/>
          </a:xfrm>
          <a:prstGeom prst="rect">
            <a:avLst/>
          </a:prstGeom>
          <a:ln w="12700">
            <a:miter lim="400000"/>
          </a:ln>
        </p:spPr>
      </p:pic>
      <p:sp>
        <p:nvSpPr>
          <p:cNvPr id="228" name="TextBox 12"/>
          <p:cNvSpPr txBox="1"/>
          <p:nvPr/>
        </p:nvSpPr>
        <p:spPr>
          <a:xfrm>
            <a:off x="1866900" y="2564308"/>
            <a:ext cx="7181850" cy="1786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500"/>
              </a:lnSpc>
              <a:defRPr sz="90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https://assets.datacom.com/is/image/datacom/AIAppModernisation_ArticleCoverImage_1920x600px_2x_V1?$full-width-tiles$</a:t>
            </a:r>
          </a:p>
        </p:txBody>
      </p:sp>
      <p:sp>
        <p:nvSpPr>
          <p:cNvPr id="229" name="TextBox 13"/>
          <p:cNvSpPr txBox="1"/>
          <p:nvPr/>
        </p:nvSpPr>
        <p:spPr>
          <a:xfrm>
            <a:off x="1866900" y="2810023"/>
            <a:ext cx="7181850" cy="2280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900"/>
              </a:lnSpc>
              <a:defRPr sz="120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defRPr>
            </a:pPr>
            <a:r>
              <a:t>Source: </a:t>
            </a:r>
            <a:r>
              <a:rPr>
                <a:solidFill>
                  <a:srgbClr val="4F46E5"/>
                </a:solidFill>
              </a:rPr>
              <a:t>datacom.com</a:t>
            </a:r>
          </a:p>
        </p:txBody>
      </p:sp>
      <p:pic>
        <p:nvPicPr>
          <p:cNvPr id="230" name="Picture 14" descr="Picture 1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71525" y="3355626"/>
            <a:ext cx="857250" cy="476252"/>
          </a:xfrm>
          <a:prstGeom prst="rect">
            <a:avLst/>
          </a:prstGeom>
          <a:ln w="12700">
            <a:miter lim="400000"/>
          </a:ln>
        </p:spPr>
      </p:pic>
      <p:sp>
        <p:nvSpPr>
          <p:cNvPr id="231" name="TextBox 15"/>
          <p:cNvSpPr txBox="1"/>
          <p:nvPr/>
        </p:nvSpPr>
        <p:spPr>
          <a:xfrm>
            <a:off x="1866900" y="3349078"/>
            <a:ext cx="7181850" cy="1786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500"/>
              </a:lnSpc>
              <a:defRPr sz="90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https://docs.aws.amazon.com/images/whitepapers/latest/web-application-hosting-best-practices/images/image4.png</a:t>
            </a:r>
          </a:p>
        </p:txBody>
      </p:sp>
      <p:sp>
        <p:nvSpPr>
          <p:cNvPr id="232" name="TextBox 16"/>
          <p:cNvSpPr txBox="1"/>
          <p:nvPr/>
        </p:nvSpPr>
        <p:spPr>
          <a:xfrm>
            <a:off x="1866900" y="3594794"/>
            <a:ext cx="7181850" cy="2280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900"/>
              </a:lnSpc>
              <a:defRPr sz="120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defRPr>
            </a:pPr>
            <a:r>
              <a:t>Source: </a:t>
            </a:r>
            <a:r>
              <a:rPr>
                <a:solidFill>
                  <a:srgbClr val="4F46E5"/>
                </a:solidFill>
              </a:rPr>
              <a:t>docs.aws.amazon.com</a:t>
            </a:r>
          </a:p>
        </p:txBody>
      </p:sp>
      <p:pic>
        <p:nvPicPr>
          <p:cNvPr id="233" name="Picture 17" descr="Picture 17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771525" y="4140398"/>
            <a:ext cx="857250" cy="476252"/>
          </a:xfrm>
          <a:prstGeom prst="rect">
            <a:avLst/>
          </a:prstGeom>
          <a:ln w="12700">
            <a:miter lim="400000"/>
          </a:ln>
        </p:spPr>
      </p:pic>
      <p:sp>
        <p:nvSpPr>
          <p:cNvPr id="234" name="TextBox 18"/>
          <p:cNvSpPr txBox="1"/>
          <p:nvPr/>
        </p:nvSpPr>
        <p:spPr>
          <a:xfrm>
            <a:off x="1866900" y="4133850"/>
            <a:ext cx="7181850" cy="1786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500"/>
              </a:lnSpc>
              <a:defRPr sz="90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https://framerusercontent.com/images/d2FXy9hnIyYJoNBoYudRhjCzZe4.jpg?width=1196&amp;height=876</a:t>
            </a:r>
          </a:p>
        </p:txBody>
      </p:sp>
      <p:sp>
        <p:nvSpPr>
          <p:cNvPr id="235" name="TextBox 19"/>
          <p:cNvSpPr txBox="1"/>
          <p:nvPr/>
        </p:nvSpPr>
        <p:spPr>
          <a:xfrm>
            <a:off x="1866900" y="4379564"/>
            <a:ext cx="7181850" cy="2280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900"/>
              </a:lnSpc>
              <a:defRPr sz="120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defRPr>
            </a:pPr>
            <a:r>
              <a:t>Source: </a:t>
            </a:r>
            <a:r>
              <a:rPr>
                <a:solidFill>
                  <a:srgbClr val="4F46E5"/>
                </a:solidFill>
              </a:rPr>
              <a:t>fonzi.ai</a:t>
            </a:r>
          </a:p>
        </p:txBody>
      </p:sp>
      <p:pic>
        <p:nvPicPr>
          <p:cNvPr id="236" name="Picture 20" descr="Picture 20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771525" y="4925169"/>
            <a:ext cx="857250" cy="476252"/>
          </a:xfrm>
          <a:prstGeom prst="rect">
            <a:avLst/>
          </a:prstGeom>
          <a:ln w="12700">
            <a:miter lim="400000"/>
          </a:ln>
        </p:spPr>
      </p:pic>
      <p:sp>
        <p:nvSpPr>
          <p:cNvPr id="237" name="TextBox 21"/>
          <p:cNvSpPr txBox="1"/>
          <p:nvPr/>
        </p:nvSpPr>
        <p:spPr>
          <a:xfrm>
            <a:off x="1866900" y="4918619"/>
            <a:ext cx="7181850" cy="1786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500"/>
              </a:lnSpc>
              <a:defRPr sz="90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defRPr>
            </a:lvl1pPr>
          </a:lstStyle>
          <a:p>
            <a:pPr/>
            <a:r>
              <a:t>https://www.dragon1.com/images/convolutional-neural-networks-cnns.png</a:t>
            </a:r>
          </a:p>
        </p:txBody>
      </p:sp>
      <p:sp>
        <p:nvSpPr>
          <p:cNvPr id="238" name="TextBox 22"/>
          <p:cNvSpPr txBox="1"/>
          <p:nvPr/>
        </p:nvSpPr>
        <p:spPr>
          <a:xfrm>
            <a:off x="1866900" y="5164335"/>
            <a:ext cx="7181850" cy="2280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900"/>
              </a:lnSpc>
              <a:defRPr sz="120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defRPr>
            </a:pPr>
            <a:r>
              <a:t>Source: </a:t>
            </a:r>
            <a:r>
              <a:rPr>
                <a:solidFill>
                  <a:srgbClr val="4F46E5"/>
                </a:solidFill>
              </a:rPr>
              <a:t>www.dragon1.com</a:t>
            </a:r>
          </a:p>
        </p:txBody>
      </p:sp>
      <p:sp>
        <p:nvSpPr>
          <p:cNvPr id="239" name="TextBox 23"/>
          <p:cNvSpPr txBox="1"/>
          <p:nvPr/>
        </p:nvSpPr>
        <p:spPr>
          <a:xfrm>
            <a:off x="771524" y="581025"/>
            <a:ext cx="11181399" cy="520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4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pPr/>
            <a:r>
              <a:t>Image Sources</a:t>
            </a:r>
          </a:p>
        </p:txBody>
      </p:sp>
      <p:sp>
        <p:nvSpPr>
          <p:cNvPr id="240" name="Rectangle 24"/>
          <p:cNvSpPr/>
          <p:nvPr/>
        </p:nvSpPr>
        <p:spPr>
          <a:xfrm>
            <a:off x="771525" y="1247775"/>
            <a:ext cx="10648950" cy="19050"/>
          </a:xfrm>
          <a:prstGeom prst="rect">
            <a:avLst/>
          </a:prstGeom>
          <a:solidFill>
            <a:srgbClr val="38BDF8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